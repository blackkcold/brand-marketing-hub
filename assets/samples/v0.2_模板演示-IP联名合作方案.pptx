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Archetype：agenda；Layout：目录；按“为什么选这个IP→怎么打→给什么权益→多少钱→什么节奏”排列。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Archetype：report purpose；进度汇报版可改为“已完成/进行中/风险项”。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Archetype：cards/matrix；Layout：table；没有数据的维度宁可不写，不要编。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Archetype：timeline；证明IP处于上升期而非衰退期。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Archetype：RTB/WHAT/WHY/HOW；策略页必须能一句话说清增量。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Archetype：cards/matrix；三件要事覆盖认知、互动、购买。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Archetype：A→A-I→I-P funnel；每段必须有触点、内容和KPI。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Archetype：image collage/KV；多图 collage 需先合成为一张图再 @img。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Archetype：cards/matrix；每个方向必须标注产品卖点落点。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Archetype：table；权益表是谈判基准，每项都可能被砍，但初始方案要完整。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Archetype：table/budget；给两档方案引导选择，注明费率是谈判结果。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Archetype：table；必要条件需提前让内部相关方确认可承诺。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Archetype：timeline；Renderer：@layout table；关键节点用红色语义写入文本，汇报时口头强调。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Archetype：case study；一个案例一页，不把多个案例塞成长表。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Archetype：蓝色 end；Layout：end；尾页简洁，可放公司 logo。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458F6"/>
              </a:gs>
              <a:gs pos="100000">
                <a:srgbClr val="1E46E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440000">
            <a:off x="7498079" y="-2286000"/>
            <a:ext cx="2926080" cy="128016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440000">
            <a:off x="9692640" y="-2286000"/>
            <a:ext cx="1463040" cy="128016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440000">
            <a:off x="6035040" y="-2286000"/>
            <a:ext cx="822960" cy="128016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vo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384048"/>
            <a:ext cx="10655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48840"/>
            <a:ext cx="9601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【品牌X】×【IP名称】联合营销方案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1EBFE"/>
                </a:solidFill>
                <a:latin typeface="PingFang SC"/>
                <a:ea typeface="PingFang SC"/>
                <a:cs typeface="PingFang SC"/>
              </a:rPr>
              <a:t>【合作产品线】联名合作 · 2026年X月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【部门/代理商】｜【YYYY.MM.DD】｜内部资料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1206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【品牌X】×【IP名称】联合营销方案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6811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提报方：【代理商/部门】 日期：【YYYY.MM.DD】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815583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密级提示：内部资料，请勿外传（如适用）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01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背景共识与 IP 价值论证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29967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02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联合营销策略与三件要事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0720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03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核心创意与 KV 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8444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04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合作权益、报价与必要条件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6168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05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时间线、风险与下一步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38927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7475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38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背景与共识回顾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760" y="429768"/>
            <a:ext cx="9225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本轮方案必须正面回应遗留问题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上轮共识：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【已达成的策略共识，如“聚焦XX赛道”】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遗留待办1：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【如何用IP讲好产品故事】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遗留待办2：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【如何实现人群破圈】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本轮回应：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【本方案的回答方式】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项目状态：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【提案/进度汇报/内部评审】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21869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8529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IP 价值论证：基本面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信息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数据/证据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IP基本信息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【名称/读音/发行方/设计师】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【上线时间/首发渠道】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人设关键词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【3-6个关键词】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【内容/角色设定】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用户画像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【性别/年龄/职业圈层】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【平台/调研来源】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社媒数据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【平台A/B粉丝与互动】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【粉丝量/点赞率】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销售数据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【营收/同比/区域】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【TOP市场/增长】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92989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5641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IP 价值论证：产品系列与势头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系列/事件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市场表现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合作背书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对本项目的含义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【时间1】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【系列1】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【销量/声量】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【时间2】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【系列2】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【知名联名/IP】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【未来12个月】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【产品计划】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【增长信号】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【谈判筹码/风险】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312159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94639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合作策略定位：RTB/WHAT/WHY/HOW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RTB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产品能力：【产品能力延伸/品牌价值观延伸/TA需求延伸/营销节点重构】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IP能力：【内容/角色/粉丝/商业化】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6533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701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WHAT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701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701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合作阶段：【借IP流量/借IP内容/共同经营】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一句话策略：【为什么这个IP为这个产品创造增量】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WHY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1315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315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人群理由：【目标TA重合或互补】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生意理由：【上市节点/区域市场/转化机会】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3761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4929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HOW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4929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4929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双引擎：【广度曝光 + 深度种草】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传播逻辑：【PUSH→PULL，把创作权交给用户】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39649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0307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IP 为产品做的三件要事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一套【产品】拍的【IP主题】内容作品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植入卖点：【卖点1】【卖点2】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事件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一个【IP粉丝】参与创作的社交事件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机制：【创作团/上大屏/征集评选】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转化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一个 IP 定制的买赠礼盒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形式：【N选1礼赠/主题包店/标杆场】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725419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3596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传播链路：A→A-I→I-P 漏斗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A 认知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IP 官宣与主 KV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媒体/艺人/品牌阵地集中释放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KPI：【曝光/搜索/话题阅读】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A-I 互动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IP粉丝共创事件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KOL 二创与社媒挑战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KPI：【互动/投稿/收藏】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I-P 购买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联名礼盒与门店体验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首销权益与渠道承接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KPI：【预约/到店/成交】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574289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20852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核心创意：超级符号与 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1529" y="429768"/>
            <a:ext cx="839851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超级符号要可复现、可参与、可传播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4937760" cy="4572000"/>
          </a:xfrm>
          <a:prstGeom prst="rect">
            <a:avLst/>
          </a:prstGeom>
          <a:solidFill>
            <a:srgbClr val="EAF2FF"/>
          </a:solidFill>
          <a:ln w="15875">
            <a:solidFill>
              <a:srgbClr val="1E4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73552"/>
            <a:ext cx="4297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MISSING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75887"/>
            <a:ext cx="4297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65656"/>
                </a:solidFill>
                <a:latin typeface="PingFang SC"/>
                <a:ea typeface="PingFang SC"/>
                <a:cs typeface="PingFang SC"/>
              </a:rPr>
              <a:t>ip-kv-direction.jpg】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16752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【KV方向图：请替换为真实 IP/产品视觉】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234440"/>
            <a:ext cx="6156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超级符号：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【互动符号/暗号，如“拍手=开拍”】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符号机制：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【每次动作如何成为品牌行为】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Tone &amp; Manner：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【影调质感/镜头语言/视觉风格】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产品卖点落点：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【符号如何回扣产品力】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备选方向：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【备选符号及取舍理由】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697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203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创意内容展开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内容方向一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场景：【场景×IP角色】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产品卖点：【】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产出：【短片/KV/门店物料】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内容方向二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场景：【场景×IP角色】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产品卖点：【】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产出：【】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内容方向三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场景：【场景×IP角色】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产品卖点：【】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产出：【】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697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203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合作权益汇总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权益项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范围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数量/周期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限制条件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备注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合作产品与市场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【产品系列及型号】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【区域范围】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【是否含港澳台/海外】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授权销售期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【X个月】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【不含开发期及清货期】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品类排他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【单IP品类排他】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【销售期前后X个月】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礼盒形式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手机非INBOX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周边SKU上限【X】个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定制内容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定制形象/图库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【数量】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【审核轮次】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社媒资源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IP方平台互动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【X条】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【发布窗口】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2141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848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报价方案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授权金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周边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定制费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服务费/税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加强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口径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产品GMV×【X%】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成本价×【X%】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服务费【X%】/税【X%】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含税总计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68529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31953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IP 方必要条件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具体要求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写入文件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责任方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明星资源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【代言人级别挂名+物料拍摄】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Deal Memo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媒体资源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【头部杂志/联名TVC】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Deal Memo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线下资源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【核心门店主题包店】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Deal Memo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传播资源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【自媒体矩阵/KOL/广告投入】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Deal Memo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9253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55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时间线与关键节点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关键动作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交付物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Owner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风险提醒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T+0.5月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报价确认 + Deal Memo签署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【DM】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T+1月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提交定制设计需求Brief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【Brief】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T+1.5月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定制设计初稿review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【2D图库初稿】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T+3.5月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定制设计Final定稿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【Final文件】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【不可延误】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T+9-10月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合同签署流程完毕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【合同/上线包】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【上线倒排】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02768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661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案例参考：可复用 IP 联名玩法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案例：【品牌×IP】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合作阶段：【借流量/借内容/共同经营】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动作：【产品定制/内容共创/线下事件】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资源：【IP角色/粉丝/渠道】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效果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数据：【真实数据或待补】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启示：【可复用/需规避】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458F6"/>
              </a:gs>
              <a:gs pos="100000">
                <a:srgbClr val="1E46E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440000">
            <a:off x="7498079" y="-2286000"/>
            <a:ext cx="2926080" cy="128016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440000">
            <a:off x="9692640" y="-2286000"/>
            <a:ext cx="1463040" cy="128016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440000">
            <a:off x="6035040" y="-2286000"/>
            <a:ext cx="822960" cy="128016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vo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384048"/>
            <a:ext cx="10655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7432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49039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1EBFE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