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Archetype：agenda；Layout：目录；只列章节，不写方法论细节。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Archetype：report purpose；白底内容页，蓝 title label，正文≤4条。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Archetype：RTB/WHAT/WHY/HOW；Layout：cards 4；RTB 必须是产品力，不写空泛口号。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Archetype：A→A-I→I-P funnel；三段都要写触点、内容、KPI。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Archetype：cards/matrix；三件要事覆盖认知、互动、购买，缺一不可。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Archetype：cards/matrix；名单页密度高，每个名字标注头衔与代表作品。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Archetype：WHAT/WHY/HOW；Layout：bullets；一级要点≤5。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Archetype：cards/matrix；线下页必须标注城市、场次数、档期。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Archetype：image collage/KV；多图请先合成为一张图再 @img；无素材时改为 cards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Archetype：cards/matrix；Layout：table；每位KOL标注合作深度与预算档位。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Archetype：timeline；Renderer：@layout table；时间轴必须有起承转合。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Archetype：timeline + table；信息密度高，但≤6行，超出拆页。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Archetype：table/budget；预算必须写口径，分项加总必须等于总预算。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Archetype：case study；一个案例一页，数据不得编造。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Archetype：table；有线下活动与艺人合作时必备。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Archetype：蓝色 end；Layout：end；尾页简洁。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458F6"/>
              </a:gs>
              <a:gs pos="100000">
                <a:srgbClr val="1E46E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440000">
            <a:off x="7498079" y="-2286000"/>
            <a:ext cx="2926080" cy="128016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440000">
            <a:off x="9692640" y="-2286000"/>
            <a:ext cx="1463040" cy="128016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440000">
            <a:off x="6035040" y="-2286000"/>
            <a:ext cx="822960" cy="128016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vo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384048"/>
            <a:ext cx="10655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48840"/>
            <a:ext cx="9601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2026【项目/事件名】传播方案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1EBFE"/>
                </a:solidFill>
                <a:latin typeface="PingFang SC"/>
                <a:ea typeface="PingFang SC"/>
                <a:cs typeface="PingFang SC"/>
              </a:rPr>
              <a:t>【产品名】×【IP/事件】 · 2026年X月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【部门/代理商】｜【YYYY.MM.DD】｜内部资料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1206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2026【项目/事件名】传播方案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6811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【产品名】×【合作方/事件】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815583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提报：【部门/代理商】 日期：【YYYY.MM.DD】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01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项目背景与本轮回应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29967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02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产品 RTB 与传播主线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0720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03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三件要事与创意 KV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8444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04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KOL、社媒与作战节奏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6168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05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预算、风险与下一步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38927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项目背景与本轮回应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429768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本页回答为什么要做、上轮反馈如何被解决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项目定位：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【如新品上市/影展/节点营销的传播搭载】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上轮反馈：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【客户/内部评审原话】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本轮回应：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【方案将如何强化产品力/破圈/转化】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关键节点：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【策略汇报日/方案汇报日/活动日/上市日】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13436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768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RTB/WHAT/WHY/HOW：产品力证据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RTB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【卖点1：核心影像/性能/设计能力】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【卖点2：差异化配置或生态能力】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【可验证证据：参数/样张/测试/真实体验】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6533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701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WHAT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701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701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【传播主张，如“用XX，拍好电影”】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【内容作品/事件/体验的核心动作】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WHY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1315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315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【目标人群为什么需要它】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【本节点为什么适合释放】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3761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4929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HOW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4929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4929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【内容、事件、转化载体如何串联】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【资源如何分工】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725419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3596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传播主线：A→A-I→I-P 漏斗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A 认知破圈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触点：【国民级艺人/IP/大事件】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内容：【官宣物料/TVC/KV/媒体话题】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KPI：【声量/曝光/搜索】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A-I 互动种草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触点：【垂类KOL/社媒挑战/用户共创】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内容：【直拍/Vlog/UGC/探店】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KPI：【互动/投稿/收藏】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I-P 购买转化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触点：【线下体验/礼盒/首销权益】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内容：【体验站/主题包店/买赠机制】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KPI：【到店/预约/成交】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697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203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三件要事总览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内容作品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一套【产品】拍摄的【内容作品】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每支内容绑定一条 RTB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产出：【片量/海报/短视频/长图】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用户事件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一个【用户参与事件】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机制：【报名→创作→展示→传播】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沉淀：【话题/作品池/二创】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转化载体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一个【礼盒/体验站/首销权益】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场景：【门店/快闪/发布会/线上商城】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钩子：【N选1礼赠/限定权益】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9253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559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要事一：内容作品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作品结构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内容形式：【电影感小剧场/大师人像展/超短片】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参与阵容：【导演/创作者/艺人名单】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产品落点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卖点1：【对应镜头或情节】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卖点2：【对应拍摄玩法】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交付物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视频：【条数/时长/平台规格】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平面：【KV/海报/长图/门店物料】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2809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915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要事二：用户参与事件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8160" y="429768"/>
            <a:ext cx="869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事件必须回答用户为什么愿意参与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事件机制：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【如200人创作团、作品上大屏、线下试拍】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参与路径：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【报名 → 创作 → 展示 → 传播】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情绪价值：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【被看见/被共创/被官方认证】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UGC沉淀：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【话题设计，如#XX拍一下】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二次传播：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【KOL翻拍/媒体覆盖/官方精选】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4587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09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要事三：线下体验与转化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体验空间站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【产品卖点可体验化设计】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【试拍/配件/影像挑战】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主题包店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【全国N家+重点城市打样】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【陈列/导购/互动机制】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转化钩子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【礼盒/买赠/预约权益】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【首销日/颁奖礼/直播节点】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574289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20852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核心创意：超级符号与 KV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1529" y="429768"/>
            <a:ext cx="839851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创意必须可识别、可参与、可传播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4937760" cy="4572000"/>
          </a:xfrm>
          <a:prstGeom prst="rect">
            <a:avLst/>
          </a:prstGeom>
          <a:solidFill>
            <a:srgbClr val="EAF2FF"/>
          </a:solidFill>
          <a:ln w="15875">
            <a:solidFill>
              <a:srgbClr val="1E4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73552"/>
            <a:ext cx="4297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MISSING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75887"/>
            <a:ext cx="42976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0">
                <a:solidFill>
                  <a:srgbClr val="565656"/>
                </a:solidFill>
                <a:latin typeface="PingFang SC"/>
                <a:ea typeface="PingFang SC"/>
                <a:cs typeface="PingFang SC"/>
              </a:rPr>
              <a:t>kv-direction.jpg】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16752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【KV方向图：产品×事件主视觉，请替换为真实素材】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234440"/>
            <a:ext cx="6156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超级符号：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【可互动的传播暗号，如“拍手=开拍”】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符号机制：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【每次动作如何触发品牌行为】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Tone &amp; Manner：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【影调/镜头语言/质感描述】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产品卖点落点：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【符号如何服务 RTB】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15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15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备选方向：</a:t>
            </a:r>
            <a:r>
              <a:rPr sz="11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【2-3个方向及推荐理由】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3868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772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KOL 与内容合作矩阵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层级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人选/账号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合作形式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内容任务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预算档位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KPI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头部明星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【名单】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【硬广/共创/出席】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【TVC/KV/官宣】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【声量】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腰部创作者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【名单】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【软性seeding/共创】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【Vlog/直拍/教程】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【互动】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垂类KOL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【名单】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【测评/探店】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【卖点体验】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【种草】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素人UGC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【机制】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【征集/激励】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【作品投稿】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【投稿】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697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203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社媒传播节奏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关键动作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主要平台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核心物料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KPI方向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预热期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【日期区间】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【悬念/预告/预约】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微博/小红书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【预热KV/短视频】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爆发期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【日期区间】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【官宣/事件/直播】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微博/抖音/B站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【TVC/话题/直播切片】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互动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延续期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【日期区间】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【二创激励/口碑发酵】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小红书/B站/门店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【UGC合集/探店】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3919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02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传播作战图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日期/节点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艺人/IP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媒介投放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社媒内容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线下/门店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备注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【节点1】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【动作】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【资源】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【内容】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【场景】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【风险/依赖】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【节点2】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【动作】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【资源】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【内容】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【场景】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【风险/依赖】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【节点3】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【动作】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【资源】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【内容】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【场景】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【风险/依赖】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2141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848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预算分配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分项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金额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占比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口径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负责人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艺人/IP合作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【X%】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【授权/出席/拍摄】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媒介投放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【X%】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【平台/周期】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内容制作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【X%】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【TVC/KV/短视频】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线下执行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【X%】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【城市/场次】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社媒/KOL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【X%】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【达人/激励】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总计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100%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分项加总等于总预算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258819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8930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案例参考：可复用 campaign 玩法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案例：【品牌×IP/艺人】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目标：【破圈/种草/转化】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动作：【内容/事件/线下/媒介】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资源：【明星/IP/KOL/渠道】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效果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数据：【真实数据或待补】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启示：【可复用/需规避】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3919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02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风险与预案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等级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预案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Owner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【档期冲突/艺人舆情】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【A/B/C】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【天气影响线下】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【A/B/C】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【审批延误】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【A/B/C】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458F6"/>
              </a:gs>
              <a:gs pos="100000">
                <a:srgbClr val="1E46E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440000">
            <a:off x="7498079" y="-2286000"/>
            <a:ext cx="2926080" cy="128016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440000">
            <a:off x="9692640" y="-2286000"/>
            <a:ext cx="1463040" cy="128016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440000">
            <a:off x="6035040" y="-2286000"/>
            <a:ext cx="822960" cy="128016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vo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384048"/>
            <a:ext cx="10655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7432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49039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1EBFE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