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Archetype：agenda；Layout：目录；P2 只做目录，禁止混写评估框架，防止 P2 语义歧义。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Archetype：report purpose；Layout：bullets；这是从旧版“目录与评估框架”拆出的目的页。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Archetype：RTB/WHAT/WHY/HOW；Layout：cards 4；方法论先立规矩，后续名单才客观。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Archetype：report purpose；避免粉丝口径堆数据。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Archetype：timeline；Renderer：@layout table；判断当下处于生命周期哪一阶段。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Archetype：cards/matrix；Layout：table；重点关注同品类冲突与高端品牌背书。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Archetype：case study；一个案例一页，多案例拆多页；数据不得编造。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Archetype：cards/matrix；两类人群不可混用，否则权益设计会错位。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Archetype：table；法务与公关评审核心页，必须逐人覆盖。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Archetype：table/budget；边界页防止上线后的法务追责。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Archetype：A→A-I→I-P funnel；每个用法标注预算量级和可执行条件。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Archetype：RTB/WHAT/WHY/HOW；从“借脸”升级为“借视角”。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Archetype：cards/matrix；同一方法论筛选，每人一句话评估与风险标注。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Archetype：cards/matrix + table/budget；最终交付页，各层定位不重叠、预算可加总。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Archetype：蓝色 end；Layout：end；尾页简洁。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458F6"/>
              </a:gs>
              <a:gs pos="100000">
                <a:srgbClr val="1E46E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440000">
            <a:off x="7498079" y="-2286000"/>
            <a:ext cx="2926080" cy="128016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440000">
            <a:off x="9692640" y="-2286000"/>
            <a:ext cx="1463040" cy="128016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440000">
            <a:off x="6035040" y="-2286000"/>
            <a:ext cx="822960" cy="128016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vo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384048"/>
            <a:ext cx="1065567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48840"/>
            <a:ext cx="9601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【产品系列】新品艺人合作分析报告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1EBFE"/>
                </a:solidFill>
                <a:latin typeface="PingFang SC"/>
                <a:ea typeface="PingFang SC"/>
                <a:cs typeface="PingFang SC"/>
              </a:rPr>
              <a:t>【艺人姓名】评估 · V5 · 2026年X月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989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D8FF"/>
                </a:solidFill>
                <a:latin typeface="PingFang SC"/>
                <a:ea typeface="PingFang SC"/>
                <a:cs typeface="PingFang SC"/>
              </a:rPr>
              <a:t>【部门/代理商】｜【2026.MM.DD】｜内部资料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12064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D8FF"/>
                </a:solidFill>
                <a:latin typeface="PingFang SC"/>
                <a:ea typeface="PingFang SC"/>
                <a:cs typeface="PingFang SC"/>
              </a:rPr>
              <a:t>【产品系列】新品艺人合作分析报告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46811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D8FF"/>
                </a:solidFill>
                <a:latin typeface="PingFang SC"/>
                <a:ea typeface="PingFang SC"/>
                <a:cs typeface="PingFang SC"/>
              </a:rPr>
              <a:t>评估对象：【艺人姓名】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815583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9D8FF"/>
                </a:solidFill>
                <a:latin typeface="PingFang SC"/>
                <a:ea typeface="PingFang SC"/>
                <a:cs typeface="PingFang SC"/>
              </a:rPr>
              <a:t>版本/日期：【V5 · 2026.MM.DD】 密级：内部资料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01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报告目的与选人方法论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29967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02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艺人情况总览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07208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03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商业合作与粉丝生态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584448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04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风险边界与授权范围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61688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05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使用思路与创新合作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38927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79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06</a:t>
            </a:r>
            <a:r>
              <a:rPr sz="16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备选池与1+N矩阵建议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916167"/>
            <a:ext cx="4206240" cy="32004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031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报告目的与评估口径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429768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本报告服务艺人合作决策，而非粉丝向介绍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核心问题：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【是否适合成为新品合作对象/代言人/大使】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决策口径：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【人群匹配 + 品牌契合 + 叙事能力 + 风险边界】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输出物：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【合作建议、使用思路、风险等级、备选矩阵】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数据来源：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【TGI/平台数据/公开报道/商务合作资料/待补清单】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2809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915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选人方法论：筛选漏斗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人群匹配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目标人群兴趣类目TOP【100】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目标人群TGI排序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候选池来源：【娱乐/体育/电竞】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6533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7701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品牌契合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7701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701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品牌精神关键词：【探索/极致/美学】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艺人公众形象连接点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与产品系列调性是否一致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叙事能力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1315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1315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作品、经历、专业身份可讲故事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能否支撑新品核心主张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是否能从“借脸”升级为“借视角”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3761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4929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风险过滤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64929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4929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竞品绑定与同品类冲突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历史争议与粉丝冲突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授权边界与内容可用性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031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艺人总览：行业地位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429768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用权威第三方信息建立基本判断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基本履历：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【出道年份/领域/代表作品】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行业成就：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【奖项数量与等级、权威榜单排名】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影响力规模：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【社媒粉丝量级、活跃度】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公众认知度：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【全民认知/圈层认知/作品认知】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• </a:t>
            </a:r>
            <a:r>
              <a:rPr sz="1200" b="1">
                <a:solidFill>
                  <a:srgbClr val="06175E"/>
                </a:solidFill>
                <a:latin typeface="PingFang SC"/>
                <a:ea typeface="PingFang SC"/>
                <a:cs typeface="PingFang SC"/>
              </a:rPr>
              <a:t>初步判断：</a:t>
            </a:r>
            <a:r>
              <a:rPr sz="120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【一句话说明适配或不适配】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7475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381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人设演进时间线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代表作品/事件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人设标签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对合作的含义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【年份区间】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【青涩出道/才华新人】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阶段二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【年份区间】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【巅峰创作期】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【年份区间】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【转型期/成熟期】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【年份至今】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【情怀符号/常青/专业身份】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031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商业情况：代言矩阵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品类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品牌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合作身份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合作周期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与本品类关系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备注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奢侈品/时尚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【代言人/大使】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【调性背书】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3C/科技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【冲突/不冲突】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快消/生活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【人群补充】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其他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7254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23596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代表性 campaign 案例拆解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案例：【品牌×艺人】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目标：【提升调性/破圈/转化】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人群：【目标TA】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8906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906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动作：【TVC/发布会/演唱会/社媒】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内容：【素材与权益使用方式】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节奏：【官宣/爆发/延续】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效果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3724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数据：【真实数据或待补】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启示：【可复用玩法/需规避问题】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对 vivo 含义：【一句话】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947669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258190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粉丝生态：歌迷/影迷 vs 粉丝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作品导向人群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关注：【作品/舞台/专业能力】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适合玩法：【演唱会/作品联动/内容共创】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8906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人导向粉丝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906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关注：【物料/互动/陪伴感】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适合玩法：【小卡/见面会/直拍/路透】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组织生态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3724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阵地：【后援会/超话/垂直社区】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转化：【应援/购机/投稿/扩散】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5697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203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舆情风险预判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等级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风险类型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已知事实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对合作影响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缓解策略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 高危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【劣迹/重大争议】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建议排除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 可控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【竞品绑定/粉丝冲突】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需设置边界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 低风险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【常规舆情波动】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正常监测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本评估对象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【A/B/C】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031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合作边界与授权范围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权益/素材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可用范围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不可用范围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费用/授权口径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待确认方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歌曲/BGM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【原曲/翻唱/片段】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【经纪/版权方】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视觉素材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【MV/演唱会/剧照】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肖像使用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【硬广/软广/社媒】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线下出席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【发布会/门店/直播】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30810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27152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使用思路：A→A-I→I-P 传播搭载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A 认知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TVC方向：【创意概念 + BGM建议】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发布会环节：【现场表演/互动设计】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7738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8906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A-I 互动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906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8906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演唱会联动：【现场露出/粉丝任务】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社媒话题：【官宣节奏与UGC机制】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1325880"/>
            <a:ext cx="3576218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3724" y="1508760"/>
            <a:ext cx="317388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I-P 转化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13724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2103120"/>
            <a:ext cx="317388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周边权益：【联名周边/买赠设计】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门店承接：【体验/预约/首销】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5697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203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创新合作设计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核心理念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让艺人从“镜头前的人”变成“用镜头讲故事的人”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与新品影像能力绑定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6533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7701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权益升级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57701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701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日常手持新品自拍推广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工作室拍摄带品牌水印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内容共创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11315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1315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微纪录片：【栏目名】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微综艺：【快问快答+产品人像】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旅拍企划：【无脚本城市影像】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3761" y="1325880"/>
            <a:ext cx="2625013" cy="466344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4929" y="1508760"/>
            <a:ext cx="222267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E46E6"/>
                </a:solidFill>
                <a:latin typeface="PingFang SC"/>
                <a:ea typeface="PingFang SC"/>
                <a:cs typeface="PingFang SC"/>
              </a:rPr>
              <a:t>话题沉淀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64929" y="1938528"/>
            <a:ext cx="457200" cy="27432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4929" y="2103120"/>
            <a:ext cx="222267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话题：【#XX拍一下】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0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• UGC：【用户模仿/二创/官方精选】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210312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备选池：三圈层候选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圈层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候选人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TGI/粉丝量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品牌契合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风险备注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建议动作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娱乐圈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【进入深评/暂缓】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体育圈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【竞品/争议】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电竞圈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【战队/项目】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垂类创作者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84048"/>
            <a:ext cx="1960880" cy="402336"/>
          </a:xfrm>
          <a:prstGeom prst="roundRect">
            <a:avLst>
              <a:gd name="adj" fmla="val 12000"/>
            </a:avLst>
          </a:prstGeom>
          <a:solidFill>
            <a:srgbClr val="1E4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6052"/>
            <a:ext cx="1595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1+N 分层矩阵建议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8016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114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层级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推荐人选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角色定位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权益包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预算口径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考核</a:t>
                      </a:r>
                    </a:p>
                  </a:txBody>
                  <a:tcPr anchor="ctr">
                    <a:solidFill>
                      <a:srgbClr val="1E4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主代言/大使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【首选人选】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承担品牌故事表达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【TVC/KV/发布会】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【声量+调性】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N1 新品体验官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【人选】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垂类种草与新品话题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【开箱/Vlog/评测】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【互动+种草】</a:t>
                      </a:r>
                    </a:p>
                  </a:txBody>
                  <a:tcPr anchor="ctr">
                    <a:solidFill>
                      <a:srgbClr val="F2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6175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N2 星光好友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【6-8位】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seeding轻量合作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【社交露出/短视频】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【X万】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【覆盖+投稿】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内部汇报资料 · 请勿外传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46520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9AA3B2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3458F6"/>
              </a:gs>
              <a:gs pos="100000">
                <a:srgbClr val="1E46E6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1440000">
            <a:off x="7498079" y="-2286000"/>
            <a:ext cx="2926080" cy="128016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440000">
            <a:off x="9692640" y="-2286000"/>
            <a:ext cx="1463040" cy="12801600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1440000">
            <a:off x="6035040" y="-2286000"/>
            <a:ext cx="822960" cy="128016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vo_word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384048"/>
            <a:ext cx="1065567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74320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749039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1EBFE"/>
                </a:solidFill>
                <a:latin typeface="PingFang SC"/>
                <a:ea typeface="PingFang SC"/>
                <a:cs typeface="PingFang SC"/>
              </a:rP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